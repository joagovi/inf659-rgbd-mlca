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1" dt="2026-09-25T00:08:03.355"/>
    <p1510:client id="{63B49141-7B4B-0552-5881-E5374556303C}" v="8" dt="2026-09-24T23:50:24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1638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 LUCY PALACIOS SALCEDO" userId="79dcf533be6325ef" providerId="Windows Live" clId="Web-{00000000-0000-0000-0000-000000000000}"/>
    <pc:docChg chg="modSld">
      <pc:chgData name="SUSAN LUCY PALACIOS SALCEDO" userId="79dcf533be6325ef" providerId="Windows Live" clId="Web-{00000000-0000-0000-0000-000000000000}" dt="2026-09-25T00:08:03.355" v="80"/>
      <pc:docMkLst>
        <pc:docMk/>
      </pc:docMkLst>
      <pc:sldChg chg="addSp delSp modSp">
        <pc:chgData name="SUSAN LUCY PALACIOS SALCEDO" userId="79dcf533be6325ef" providerId="Windows Live" clId="Web-{00000000-0000-0000-0000-000000000000}" dt="2026-09-25T00:08:03.355" v="80"/>
        <pc:sldMkLst>
          <pc:docMk/>
          <pc:sldMk cId="0" sldId="256"/>
        </pc:sldMkLst>
        <pc:spChg chg="del mod">
          <ac:chgData name="SUSAN LUCY PALACIOS SALCEDO" userId="79dcf533be6325ef" providerId="Windows Live" clId="Web-{00000000-0000-0000-0000-000000000000}" dt="2026-09-25T00:07:30.588" v="7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SUSAN LUCY PALACIOS SALCEDO" userId="79dcf533be6325ef" providerId="Windows Live" clId="Web-{00000000-0000-0000-0000-000000000000}" dt="2026-09-25T00:07:31.432" v="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7:04.556" v="7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8:03.355" v="80"/>
          <ac:spMkLst>
            <pc:docMk/>
            <pc:sldMk cId="0" sldId="256"/>
            <ac:spMk id="38" creationId="{00000000-0000-0000-0000-000000000000}"/>
          </ac:spMkLst>
        </pc:spChg>
        <pc:picChg chg="add mod">
          <ac:chgData name="SUSAN LUCY PALACIOS SALCEDO" userId="79dcf533be6325ef" providerId="Windows Live" clId="Web-{00000000-0000-0000-0000-000000000000}" dt="2026-09-25T00:06:27.304" v="62" actId="1076"/>
          <ac:picMkLst>
            <pc:docMk/>
            <pc:sldMk cId="0" sldId="256"/>
            <ac:picMk id="43" creationId="{D895E0D9-A79F-6284-DEEF-6E1E32AB9631}"/>
          </ac:picMkLst>
        </pc:picChg>
        <pc:picChg chg="add del mod">
          <ac:chgData name="SUSAN LUCY PALACIOS SALCEDO" userId="79dcf533be6325ef" providerId="Windows Live" clId="Web-{00000000-0000-0000-0000-000000000000}" dt="2026-09-25T00:05:19.691" v="47"/>
          <ac:picMkLst>
            <pc:docMk/>
            <pc:sldMk cId="0" sldId="256"/>
            <ac:picMk id="44" creationId="{81887B3B-D915-E385-B47E-D81B4E5D4F30}"/>
          </ac:picMkLst>
        </pc:picChg>
        <pc:picChg chg="add mod">
          <ac:chgData name="SUSAN LUCY PALACIOS SALCEDO" userId="79dcf533be6325ef" providerId="Windows Live" clId="Web-{00000000-0000-0000-0000-000000000000}" dt="2026-09-25T00:07:24.463" v="74" actId="1076"/>
          <ac:picMkLst>
            <pc:docMk/>
            <pc:sldMk cId="0" sldId="256"/>
            <ac:picMk id="45" creationId="{6186F5A4-F976-DA4E-86F6-C07234D32654}"/>
          </ac:picMkLst>
        </pc:picChg>
        <pc:picChg chg="del mod">
          <ac:chgData name="SUSAN LUCY PALACIOS SALCEDO" userId="79dcf533be6325ef" providerId="Windows Live" clId="Web-{00000000-0000-0000-0000-000000000000}" dt="2026-09-25T00:07:29.822" v="76"/>
          <ac:picMkLst>
            <pc:docMk/>
            <pc:sldMk cId="0" sldId="256"/>
            <ac:picMk id="49" creationId="{EA073FA5-B7A6-9574-C290-7E7249E38186}"/>
          </ac:picMkLst>
        </pc:picChg>
        <pc:picChg chg="del mod">
          <ac:chgData name="SUSAN LUCY PALACIOS SALCEDO" userId="79dcf533be6325ef" providerId="Windows Live" clId="Web-{00000000-0000-0000-0000-000000000000}" dt="2026-09-25T00:07:32.150" v="79"/>
          <ac:picMkLst>
            <pc:docMk/>
            <pc:sldMk cId="0" sldId="256"/>
            <ac:picMk id="50" creationId="{6B1BD098-CF01-0FAA-97F0-810A3D270A52}"/>
          </ac:picMkLst>
        </pc:picChg>
      </pc:sldChg>
    </pc:docChg>
  </pc:docChgLst>
  <pc:docChgLst>
    <pc:chgData name="SUSAN LUCY PALACIOS SALCEDO" userId="79dcf533be6325ef" providerId="Windows Live" clId="Web-{63B49141-7B4B-0552-5881-E5374556303C}"/>
    <pc:docChg chg="modSld">
      <pc:chgData name="SUSAN LUCY PALACIOS SALCEDO" userId="79dcf533be6325ef" providerId="Windows Live" clId="Web-{63B49141-7B4B-0552-5881-E5374556303C}" dt="2026-09-24T23:50:24.646" v="7"/>
      <pc:docMkLst>
        <pc:docMk/>
      </pc:docMkLst>
      <pc:sldChg chg="addSp delSp modSp">
        <pc:chgData name="SUSAN LUCY PALACIOS SALCEDO" userId="79dcf533be6325ef" providerId="Windows Live" clId="Web-{63B49141-7B4B-0552-5881-E5374556303C}" dt="2026-09-24T23:50:24.646" v="7"/>
        <pc:sldMkLst>
          <pc:docMk/>
          <pc:sldMk cId="0" sldId="256"/>
        </pc:sldMkLst>
        <pc:picChg chg="add del mod">
          <ac:chgData name="SUSAN LUCY PALACIOS SALCEDO" userId="79dcf533be6325ef" providerId="Windows Live" clId="Web-{63B49141-7B4B-0552-5881-E5374556303C}" dt="2026-09-24T23:50:24.646" v="7"/>
          <ac:picMkLst>
            <pc:docMk/>
            <pc:sldMk cId="0" sldId="256"/>
            <ac:picMk id="43" creationId="{D54F7D67-E2EC-CD94-58C7-85BD81DCE0FE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784" cy="4500000"/>
          </a:xfrm>
          <a:prstGeom prst="rect">
            <a:avLst/>
          </a:prstGeom>
          <a:solidFill>
            <a:srgbClr val="4B2A82"/>
          </a:solidFill>
          <a:ln>
            <a:solidFill>
              <a:srgbClr val="4B2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54207" y="689700"/>
            <a:ext cx="19966798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  <a:latin typeface="Arial"/>
              </a:rPr>
              <a:t>Workshop on Artificial Intelligence</a:t>
            </a:r>
            <a:r>
              <a:rPr lang="es-PE" sz="4400" b="1" dirty="0">
                <a:solidFill>
                  <a:srgbClr val="FFFFFF"/>
                </a:solidFill>
                <a:latin typeface="Arial"/>
              </a:rPr>
              <a:t> a</a:t>
            </a:r>
            <a:r>
              <a:rPr sz="4400" b="1" dirty="0" err="1">
                <a:solidFill>
                  <a:srgbClr val="FFFFFF"/>
                </a:solidFill>
                <a:latin typeface="Arial"/>
              </a:rPr>
              <a:t>nd</a:t>
            </a:r>
            <a:r>
              <a:rPr sz="4400" b="1" dirty="0">
                <a:solidFill>
                  <a:srgbClr val="FFFFFF"/>
                </a:solidFill>
                <a:latin typeface="Arial"/>
              </a:rPr>
              <a:t> Machine Learning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25797"/>
            <a:ext cx="2788920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 dirty="0">
                <a:solidFill>
                  <a:srgbClr val="FFFFFF"/>
                </a:solidFill>
                <a:latin typeface="Arial"/>
              </a:rPr>
              <a:t>Masked Linear Cross-Attention for Robust RGB-D Semantic Segmentation</a:t>
            </a:r>
          </a:p>
          <a:p>
            <a:pPr algn="ctr"/>
            <a:r>
              <a:rPr sz="3800" b="1" dirty="0">
                <a:solidFill>
                  <a:srgbClr val="FFFFFF"/>
                </a:solidFill>
                <a:latin typeface="Arial"/>
              </a:rPr>
              <a:t>with Efficient Pretrained Extractors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97695" y="3261360"/>
            <a:ext cx="667125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Arial"/>
              </a:rPr>
              <a:t>Mónica Abarca¹  •  Marshall Fernández¹  •  Joaquin Gonzalez Villarreal¹  •  Claudia Suárez¹</a:t>
            </a:r>
          </a:p>
          <a:p>
            <a:pPr algn="ctr"/>
            <a:r>
              <a:rPr sz="1600" dirty="0">
                <a:solidFill>
                  <a:srgbClr val="FFFFFF"/>
                </a:solidFill>
                <a:latin typeface="Arial"/>
              </a:rPr>
              <a:t>¹Pontificia Universidad Católica del Perú, Peru   |   Deep Learning INF659, 2026-2</a:t>
            </a:r>
            <a:r>
              <a:rPr lang="es-PE" sz="1600" dirty="0">
                <a:solidFill>
                  <a:srgbClr val="FFFFFF"/>
                </a:solidFill>
                <a:latin typeface="Arial"/>
              </a:rPr>
              <a:t/>
            </a:r>
            <a:r>
              <a:rPr sz="1600" dirty="0">
                <a:solidFill>
                  <a:srgbClr val="FFFFFF"/>
                </a:solidFill>
                <a:latin typeface="Arial"/>
              </a:rPr>
              <a:t/>
            </a:r>
            <a:r>
              <a:rPr lang="es-PE" sz="1600" dirty="0">
                <a:solidFill>
                  <a:srgbClr val="FFFFFF"/>
                </a:solidFill>
                <a:latin typeface="Arial"/>
              </a:rPr>
              <a:t/>
            </a:r>
            <a:r>
              <a:rPr sz="1600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739640"/>
            <a:ext cx="28072080" cy="1325880"/>
          </a:xfrm>
          <a:prstGeom prst="roundRect">
            <a:avLst/>
          </a:prstGeom>
          <a:solidFill>
            <a:srgbClr val="F5F3F9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sz="2400" dirty="0">
                <a:solidFill>
                  <a:srgbClr val="64646E"/>
                </a:solidFill>
                <a:latin typeface="Arial"/>
              </a:rPr>
              <a:t>[AUTHOR / PROJECT / INSTITUTION LOGOS — place official logos here]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6568440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1097280" y="6568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417319" y="6641592"/>
            <a:ext cx="67533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Arial"/>
              </a:rPr>
              <a:t>MOTIVATION &amp; RESEARCH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7437119"/>
            <a:ext cx="129159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• Depth sensors fail: reflective, dark or sunlit surfaces leave holes, and a sensor can drop out.</a:t>
            </a:r>
          </a:p>
          <a:p>
            <a:r>
              <a:rPr sz="2400" dirty="0">
                <a:solidFill>
                  <a:srgbClr val="28282D"/>
                </a:solidFill>
                <a:latin typeface="Arial"/>
              </a:rPr>
              <a:t>• RGB-D fusion networks degrade sharply: with 25% of depth pixels zeroed, the best models on DeLiVER lose 19–23 mIoU [1].</a:t>
            </a:r>
          </a:p>
          <a:p>
            <a:r>
              <a:rPr sz="2400" dirty="0">
                <a:solidFill>
                  <a:srgbClr val="28282D"/>
                </a:solidFill>
                <a:latin typeface="Arial"/>
              </a:rPr>
              <a:t>• Robust methods mostly rely on large backbones or on training strategies that add cost.</a:t>
            </a:r>
          </a:p>
          <a:p>
            <a:r>
              <a:rPr sz="2400" dirty="0">
                <a:solidFill>
                  <a:srgbClr val="28282D"/>
                </a:solidFill>
                <a:latin typeface="Arial"/>
              </a:rPr>
              <a:t>• Question: can a masked linear cross-attention keep RGB-D segmentation robust to missing depth at low cost?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30500" y="6568440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15430500" y="6568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5750540" y="6641592"/>
            <a:ext cx="55098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OBJECTIVES /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41980" y="7437119"/>
            <a:ext cx="12915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• MLCA: a linear cross-attention that excludes invalid depth positions exactly, at no extra cost.</a:t>
            </a:r>
          </a:p>
          <a:p>
            <a:r>
              <a:rPr sz="2400" dirty="0">
                <a:solidFill>
                  <a:srgbClr val="28282D"/>
                </a:solidFill>
                <a:latin typeface="Arial"/>
              </a:rPr>
              <a:t>• Zero-initialized output without bias: with no valid depth, MLCA contributes exactly zero.</a:t>
            </a:r>
          </a:p>
          <a:p>
            <a:r>
              <a:rPr sz="2400" dirty="0">
                <a:solidFill>
                  <a:srgbClr val="28282D"/>
                </a:solidFill>
                <a:latin typeface="Arial"/>
              </a:rPr>
              <a:t>• Systematic test against real holes, random holes, missing regions, noise and no depth.</a:t>
            </a:r>
          </a:p>
          <a:p>
            <a:r>
              <a:rPr sz="2400" dirty="0">
                <a:solidFill>
                  <a:srgbClr val="28282D"/>
                </a:solidFill>
                <a:latin typeface="Arial"/>
              </a:rPr>
              <a:t>• Accuracy–robustness–cost trade-off: mIoU, parameters, FLOPs, latency and memory.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12649200"/>
            <a:ext cx="13738860" cy="932688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1097280" y="1264920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417319" y="12722352"/>
            <a:ext cx="30364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13517880"/>
            <a:ext cx="12915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dirty="0">
                <a:solidFill>
                  <a:srgbClr val="28282D"/>
                </a:solidFill>
                <a:latin typeface="Arial"/>
              </a:rPr>
              <a:t>Frozen EfficientViT-B1 (efficient RGB backbone [2]) + frozen DeFM ResNet-18 (depth foundation model [3]).</a:t>
            </a:r>
          </a:p>
          <a:p>
            <a:r>
              <a:rPr sz="2200" dirty="0">
                <a:solidFill>
                  <a:srgbClr val="28282D"/>
                </a:solidFill>
                <a:latin typeface="Arial"/>
              </a:rPr>
              <a:t>MLCA: oᵢ = φ(qᵢ)ᵀS / (φ(qᵢ)ᵀz + ε),  S = Σⱼ mⱼφ(kⱼ)vⱼᵀ,  z = Σⱼ mⱼφ(kⱼ);  mⱼ = 0 at depth holes.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430500" y="12649200"/>
            <a:ext cx="13738860" cy="932688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ectangle 21"/>
          <p:cNvSpPr/>
          <p:nvPr/>
        </p:nvSpPr>
        <p:spPr>
          <a:xfrm>
            <a:off x="15430500" y="1264920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5750540" y="12722352"/>
            <a:ext cx="45245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RESULTS &amp;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41980" y="13517880"/>
            <a:ext cx="129159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dirty="0" b="1">
                <a:solidFill>
                  <a:srgbClr val="28282D"/>
                </a:solidFill>
                <a:latin typeface="Arial"/>
              </a:rPr>
              <a:t>Preliminary results (NYUv2 test, 40 classes, 3 seeds, predictions registered before training):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41980" y="19296000"/>
            <a:ext cx="129159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dirty="0">
                <a:solidFill>
                  <a:srgbClr val="28282D"/>
                </a:solidFill>
                <a:latin typeface="Arial"/>
              </a:rPr>
              <a:t>• Unmasked fusion (E2) helps with full depth (+2.3 mIoU) but falls below RGB only with 50% random holes (−1.1) and with an empty depth map (−2.7): it cannot tell missing depth from a measured value.</a:t>
            </a:r>
          </a:p>
          <a:p>
            <a:r>
              <a:rPr sz="1900" dirty="0">
                <a:solidFill>
                  <a:srgbClr val="28282D"/>
                </a:solidFill>
                <a:latin typeface="Arial"/>
              </a:rPr>
              <a:t>• Synthetic checks: with no valid depth the MLCA block returns exactly the RGB features; holes are excluded exactly; cost grows linearly (slope 1.14 vs 2.00 for softmax).</a:t>
            </a:r>
          </a:p>
          <a:p>
            <a:r>
              <a:rPr sz="1900" dirty="0" b="1">
                <a:solidFill>
                  <a:srgbClr val="28282D"/>
                </a:solidFill>
                <a:latin typeface="Arial"/>
              </a:rPr>
              <a:t>Planned (November 2026):</a:t>
            </a:r>
          </a:p>
          <a:p>
            <a:r>
              <a:rPr sz="1900" dirty="0">
                <a:solidFill>
                  <a:srgbClr val="28282D"/>
                </a:solidFill>
                <a:latin typeface="Arial"/>
              </a:rPr>
              <a:t>• E3 linear cross-attention, no mask   • E4 MLCA   • E5 ± modality dropout   • E6 masked softmax (UCTNet-style [4])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22570440"/>
            <a:ext cx="13738860" cy="576072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ectangle 25"/>
          <p:cNvSpPr/>
          <p:nvPr/>
        </p:nvSpPr>
        <p:spPr>
          <a:xfrm>
            <a:off x="1097280" y="22570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417319" y="22643591"/>
            <a:ext cx="245932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CONCLUSIONS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23439120"/>
            <a:ext cx="129159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dirty="0">
                <a:solidFill>
                  <a:srgbClr val="28282D"/>
                </a:solidFill>
                <a:latin typeface="Arial"/>
              </a:rPr>
              <a:t>• Preliminary finding: depth added without a mask helps only while it is available; under heavy loss it is worse than ignoring depth.</a:t>
            </a:r>
          </a:p>
          <a:p>
            <a:r>
              <a:rPr sz="2200" dirty="0">
                <a:solidFill>
                  <a:srgbClr val="28282D"/>
                </a:solidFill>
                <a:latin typeface="Arial"/>
              </a:rPr>
              <a:t>• Closest prior work (UCTNet [4]) masks a softmax self-attention; MLCA masks a linear cross-attention and removes the contribution of missing depth by construction.</a:t>
            </a:r>
          </a:p>
          <a:p>
            <a:r>
              <a:rPr sz="2200" dirty="0">
                <a:solidFill>
                  <a:srgbClr val="28282D"/>
                </a:solidFill>
                <a:latin typeface="Arial"/>
              </a:rPr>
              <a:t>• Limitations: indoor data; a binary mask detects missing, not noisy, depth.</a:t>
            </a:r>
          </a:p>
          <a:p>
            <a:r>
              <a:rPr sz="2200" dirty="0">
                <a:solidFill>
                  <a:srgbClr val="28282D"/>
                </a:solidFill>
                <a:latin typeface="Arial"/>
              </a:rPr>
              <a:t>• Next: E3–E6; latency on an embedded device if available; loss of the RGB stream; field data.</a:t>
            </a:r>
          </a:p>
          <a:p>
            <a:r>
              <a:rPr sz="2200" dirty="0">
                <a:solidFill>
                  <a:srgbClr val="28282D"/>
                </a:solidFill>
                <a:latin typeface="Arial"/>
              </a:rPr>
              <a:t>Take-home: depth should help when present and do no harm when it fails.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430500" y="22570440"/>
            <a:ext cx="13738860" cy="576072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ectangle 29"/>
          <p:cNvSpPr/>
          <p:nvPr/>
        </p:nvSpPr>
        <p:spPr>
          <a:xfrm>
            <a:off x="15430500" y="22570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15750540" y="22643591"/>
            <a:ext cx="30019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Arial"/>
              </a:rPr>
              <a:t>KEY 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41980" y="23439120"/>
            <a:ext cx="12915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>
                <a:solidFill>
                  <a:srgbClr val="28282D"/>
                </a:solidFill>
                <a:latin typeface="Arial"/>
              </a:rPr>
              <a:t>[1] C. Liao et al., Benchmarking multi-modal semantic segmentation under sensor failures, CVPR Workshops, 2025.</a:t>
            </a:r>
          </a:p>
          <a:p>
            <a:r>
              <a:rPr sz="1700" dirty="0">
                <a:solidFill>
                  <a:srgbClr val="28282D"/>
                </a:solidFill>
                <a:latin typeface="Arial"/>
              </a:rPr>
              <a:t>[2] H. Cai et al., EfficientViT: Multi-scale linear attention for high-resolution dense prediction, ICCV, 2023.</a:t>
            </a:r>
          </a:p>
          <a:p>
            <a:r>
              <a:rPr sz="1700" dirty="0">
                <a:solidFill>
                  <a:srgbClr val="28282D"/>
                </a:solidFill>
                <a:latin typeface="Arial"/>
              </a:rPr>
              <a:t>[3] M. Patel et al., DeFM: Learning foundation representations from depth for robotics, IEEE T-RO (cond. accepted), 2026.</a:t>
            </a:r>
          </a:p>
          <a:p>
            <a:r>
              <a:rPr sz="1700" dirty="0">
                <a:solidFill>
                  <a:srgbClr val="28282D"/>
                </a:solidFill>
                <a:latin typeface="Arial"/>
              </a:rPr>
              <a:t>[4] X. Ying and M. C. Chuah, UCTNet: Uncertainty-aware cross-modal transformer network for indoor RGB-D semantic segmentation, ECCV, 2022.</a:t>
            </a:r>
          </a:p>
          <a:p>
            <a:r>
              <a:rPr sz="1700" dirty="0">
                <a:solidFill>
                  <a:srgbClr val="28282D"/>
                </a:solidFill>
                <a:latin typeface="Arial"/>
              </a:rPr>
              <a:t>[5] J. Zhang et al., CMX: Cross-modal fusion for RGB-X semantic segmentation with transformers, IEEE T-ITS, 2023.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28925520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Rectangle 33"/>
          <p:cNvSpPr/>
          <p:nvPr/>
        </p:nvSpPr>
        <p:spPr>
          <a:xfrm>
            <a:off x="1097280" y="2892552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1417319" y="28998671"/>
            <a:ext cx="60292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Arial"/>
              </a:rPr>
              <a:t>ACKNOWLEDGMENTS / FUNDING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29794200"/>
            <a:ext cx="129159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dirty="0">
                <a:solidFill>
                  <a:srgbClr val="28282D"/>
                </a:solidFill>
                <a:latin typeface="Arial"/>
              </a:rPr>
              <a:t>Course Deep Learning INF659 (2026-2), Pontificia Universidad Católica del Perú.</a:t>
            </a:r>
          </a:p>
          <a:p>
            <a:r>
              <a:rPr sz="2200" dirty="0">
                <a:solidFill>
                  <a:srgbClr val="28282D"/>
                </a:solidFill>
                <a:latin typeface="Arial"/>
              </a:rPr>
              <a:t>Public datasets: NYU Depth V2 and Cityscapes. Pretrained models: EfficientViT (Apache 2.0) and DeFM (Apache 2.0).</a:t>
            </a:r>
          </a:p>
          <a:p>
            <a:r>
              <a:rPr sz="2200" dirty="0">
                <a:solidFill>
                  <a:srgbClr val="28282D"/>
                </a:solidFill>
                <a:latin typeface="Arial"/>
              </a:rPr>
              <a:t>AI assistance (Claude, Anthropic) was used for code and drafting, and is declared in the project's decision log.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430500" y="28925520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Rectangle 37"/>
          <p:cNvSpPr/>
          <p:nvPr/>
        </p:nvSpPr>
        <p:spPr>
          <a:xfrm>
            <a:off x="15430500" y="2892552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15750540" y="28998671"/>
            <a:ext cx="58422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CONTINUE THE CONVERSATION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841980" y="29794200"/>
            <a:ext cx="12915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[ QR CODE to the project repository ]</a:t>
            </a:r>
          </a:p>
          <a:p>
            <a:r>
              <a:rPr sz="2400" dirty="0">
                <a:solidFill>
                  <a:srgbClr val="28282D"/>
                </a:solidFill>
                <a:latin typeface="Arial"/>
              </a:rPr>
              <a:t/>
            </a:r>
          </a:p>
          <a:p>
            <a:r>
              <a:rPr sz="2400" dirty="0">
                <a:solidFill>
                  <a:srgbClr val="28282D"/>
                </a:solidFill>
                <a:latin typeface="Arial"/>
              </a:rPr>
              <a:t>Contact: [contact e-mail]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40405050"/>
            <a:ext cx="28072080" cy="1800000"/>
          </a:xfrm>
          <a:prstGeom prst="round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s-PE" sz="2500" b="1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BRING YOUR RESEARCH. SHARE YOUR IDEAS. JOIN THE CONVERSATION.</a:t>
            </a:r>
          </a:p>
          <a:p>
            <a:pPr algn="ctr"/>
            <a:r>
              <a:rPr sz="2000" dirty="0" err="1">
                <a:solidFill>
                  <a:srgbClr val="FFFFFF"/>
                </a:solidFill>
                <a:latin typeface="Arial"/>
              </a:rPr>
              <a:t>WAIMLAp</a:t>
            </a:r>
            <a:r>
              <a:rPr sz="2000" dirty="0">
                <a:solidFill>
                  <a:srgbClr val="FFFFFF"/>
                </a:solidFill>
                <a:latin typeface="Arial"/>
              </a:rPr>
              <a:t> 2026  •  November 18–20, 2026  •  Lima, Peru  •  waimlap.org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895E0D9-A79F-6284-DEEF-6E1E32AB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2786" y="329537"/>
            <a:ext cx="3952394" cy="168841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186F5A4-F976-DA4E-86F6-C07234D32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39" y="730916"/>
            <a:ext cx="3386394" cy="1012014"/>
          </a:xfrm>
          <a:prstGeom prst="rect">
            <a:avLst/>
          </a:prstGeom>
        </p:spPr>
      </p:pic>
      <p:pic>
        <p:nvPicPr>
          <p:cNvPr id="46" name="Picture 45" descr="arquitectura_mlca_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000" y="15227999"/>
            <a:ext cx="11160000" cy="6448000"/>
          </a:xfrm>
          <a:prstGeom prst="rect">
            <a:avLst/>
          </a:prstGeom>
        </p:spPr>
      </p:pic>
      <p:pic>
        <p:nvPicPr>
          <p:cNvPr id="47" name="Picture 46" descr="resultados_e1_e2_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40000" y="14184000"/>
            <a:ext cx="11160000" cy="502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410</Words>
  <Application>Microsoft Office PowerPoint</Application>
  <PresentationFormat>Personalizado</PresentationFormat>
  <Paragraphs>25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Linear Cross-Attention for Robust RGB-D Semantic Segmentation</dc:title>
  <dc:subject/>
  <dc:creator>M. Abarca, M. Fernández, J. Gonzalez Villarreal, C. Suárez</dc:creator>
  <cp:keywords/>
  <dc:description/>
  <cp:lastModifiedBy>M. Abarca, M. Fernández, J. Gonzalez Villarreal, C. Suárez</cp:lastModifiedBy>
  <cp:revision>51</cp:revision>
  <dcterms:created xsi:type="dcterms:W3CDTF">2013-01-27T09:14:16Z</dcterms:created>
  <dcterms:modified xsi:type="dcterms:W3CDTF">2026-09-25T23:21:07Z</dcterms:modified>
  <cp:category/>
</cp:coreProperties>
</file>